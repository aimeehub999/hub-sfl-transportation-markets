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6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2830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package" Target="../embeddings/Microsoft_Word_Document1.docx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package" Target="../embeddings/Microsoft_Word_Document2.docx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4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xpt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Partner Team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XPT Transportation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1603997" y="2011680"/>
            <a:ext cx="4114800" cy="41148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788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4DCE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More Market Access. More Expertise. Built for the Transportation Industry.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3566160"/>
            <a:ext cx="2560320" cy="1188720"/>
          </a:xfrm>
          <a:prstGeom prst="rect">
            <a:avLst/>
          </a:prstGeom>
          <a:solidFill>
            <a:srgbClr val="1A2E40"/>
          </a:solidFill>
          <a:ln w="12700">
            <a:solidFill>
              <a:srgbClr val="00C4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36118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C4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200+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02920" y="4206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Combined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3566160"/>
            <a:ext cx="2560320" cy="1188720"/>
          </a:xfrm>
          <a:prstGeom prst="rect">
            <a:avLst/>
          </a:prstGeom>
          <a:solidFill>
            <a:srgbClr val="1A2E40"/>
          </a:solidFill>
          <a:ln w="12700">
            <a:solidFill>
              <a:srgbClr val="00C4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37560" y="36118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C4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All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00C4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States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337560" y="4206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Reach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3566160"/>
            <a:ext cx="2560320" cy="1188720"/>
          </a:xfrm>
          <a:prstGeom prst="rect">
            <a:avLst/>
          </a:prstGeom>
          <a:solidFill>
            <a:srgbClr val="1A2E40"/>
          </a:solidFill>
          <a:ln w="12700">
            <a:solidFill>
              <a:srgbClr val="00C4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72200" y="36118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C4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Non-Fleet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00C4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Fleet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172200" y="4206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Solutions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quotes@xptspecialty.com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XPT Transportation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0" y="0"/>
            <a:ext cx="2926080" cy="64008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0" y="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Non-Fleet Binding Markets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086600" y="109728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brokerage markets included — contact us for more information.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91440" y="749808"/>
            <a:ext cx="1828800" cy="292608"/>
          </a:xfrm>
          <a:prstGeom prst="rect">
            <a:avLst/>
          </a:prstGeom>
          <a:solidFill>
            <a:srgbClr val="009B70"/>
          </a:solidFill>
          <a:ln w="12700">
            <a:solidFill>
              <a:srgbClr val="009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" y="7498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65960" y="749808"/>
            <a:ext cx="4114800" cy="292608"/>
          </a:xfrm>
          <a:prstGeom prst="rect">
            <a:avLst/>
          </a:prstGeom>
          <a:solidFill>
            <a:srgbClr val="009B70"/>
          </a:solidFill>
          <a:ln w="12700">
            <a:solidFill>
              <a:srgbClr val="009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65960" y="7498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26480" y="749808"/>
            <a:ext cx="1554480" cy="292608"/>
          </a:xfrm>
          <a:prstGeom prst="rect">
            <a:avLst/>
          </a:prstGeom>
          <a:solidFill>
            <a:srgbClr val="009B70"/>
          </a:solidFill>
          <a:ln w="12700">
            <a:solidFill>
              <a:srgbClr val="009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26480" y="7498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699248" y="749808"/>
            <a:ext cx="1463040" cy="292608"/>
          </a:xfrm>
          <a:prstGeom prst="rect">
            <a:avLst/>
          </a:prstGeom>
          <a:solidFill>
            <a:srgbClr val="009B70"/>
          </a:solidFill>
          <a:ln w="12700">
            <a:solidFill>
              <a:srgbClr val="009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99248" y="7498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SIZE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440" y="1069848"/>
            <a:ext cx="1828800" cy="713232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965960" y="1069848"/>
            <a:ext cx="4114800" cy="713232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1069848"/>
            <a:ext cx="1554480" cy="713232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699248" y="1069848"/>
            <a:ext cx="1463040" cy="713232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46304" y="1069848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Berkley Small Biz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20824" y="1069848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AZ, AR, CO, FL, GA, ID, IL, IN, IA, KS, KY, ME, MI, MN, MS, MO, NC, ND, NE, NV, NM, OH, OK, SC, SD, TN, UT, WV, WI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163056" y="1069848"/>
            <a:ext cx="1499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AL, APD, MTC &amp; GL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735824" y="1069848"/>
            <a:ext cx="14081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1–14 Power Units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Auto Haulers,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UNSAFE/HOS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ALERTS)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1440" y="1819656"/>
            <a:ext cx="1828800" cy="713232"/>
          </a:xfrm>
          <a:prstGeom prst="rect">
            <a:avLst/>
          </a:prstGeom>
          <a:solidFill>
            <a:srgbClr val="162333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965960" y="1819656"/>
            <a:ext cx="4114800" cy="713232"/>
          </a:xfrm>
          <a:prstGeom prst="rect">
            <a:avLst/>
          </a:prstGeom>
          <a:solidFill>
            <a:srgbClr val="162333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26480" y="1819656"/>
            <a:ext cx="1554480" cy="713232"/>
          </a:xfrm>
          <a:prstGeom prst="rect">
            <a:avLst/>
          </a:prstGeom>
          <a:solidFill>
            <a:srgbClr val="162333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699248" y="1819656"/>
            <a:ext cx="1463040" cy="713232"/>
          </a:xfrm>
          <a:prstGeom prst="rect">
            <a:avLst/>
          </a:prstGeom>
          <a:solidFill>
            <a:srgbClr val="162333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46304" y="1819656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American*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020824" y="1819656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States – Admitted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163056" y="1819656"/>
            <a:ext cx="1499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735824" y="1819656"/>
            <a:ext cx="14081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1440" y="2569464"/>
            <a:ext cx="1828800" cy="713232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965960" y="2569464"/>
            <a:ext cx="4114800" cy="713232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126480" y="2569464"/>
            <a:ext cx="1554480" cy="713232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699248" y="2569464"/>
            <a:ext cx="1463040" cy="713232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46304" y="2569464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Highlander Specialty**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020824" y="2569464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AL, AZ, FL, GA, IL, IN, IA, KS, MS, MO, NC, NE, OH, OK, SC, TN, TX, WI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163056" y="2569464"/>
            <a:ext cx="1499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735824" y="2569464"/>
            <a:ext cx="14081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1440" y="3319272"/>
            <a:ext cx="1828800" cy="713232"/>
          </a:xfrm>
          <a:prstGeom prst="rect">
            <a:avLst/>
          </a:prstGeom>
          <a:solidFill>
            <a:srgbClr val="162333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965960" y="3319272"/>
            <a:ext cx="4114800" cy="713232"/>
          </a:xfrm>
          <a:prstGeom prst="rect">
            <a:avLst/>
          </a:prstGeom>
          <a:solidFill>
            <a:srgbClr val="162333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126480" y="3319272"/>
            <a:ext cx="1554480" cy="713232"/>
          </a:xfrm>
          <a:prstGeom prst="rect">
            <a:avLst/>
          </a:prstGeom>
          <a:solidFill>
            <a:srgbClr val="162333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699248" y="3319272"/>
            <a:ext cx="1463040" cy="713232"/>
          </a:xfrm>
          <a:prstGeom prst="rect">
            <a:avLst/>
          </a:prstGeom>
          <a:solidFill>
            <a:srgbClr val="162333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46304" y="3319272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IAT*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020824" y="3319272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AL, AR, FL, GA, IN, IA, KY, MI, MN, MO, MS, NC, OH, PA, SC, TN, TX, VA, WI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163056" y="3319272"/>
            <a:ext cx="1499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AL, GL, PD, MTC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735824" y="3319272"/>
            <a:ext cx="14081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91440" y="4069080"/>
            <a:ext cx="1828800" cy="713232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965960" y="4069080"/>
            <a:ext cx="4114800" cy="713232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126480" y="4069080"/>
            <a:ext cx="1554480" cy="713232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7699248" y="4069080"/>
            <a:ext cx="1463040" cy="713232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46304" y="406908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Lloyds*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020824" y="406908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except AK &amp; HI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163056" y="4069080"/>
            <a:ext cx="1499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PD, MTC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735824" y="4069080"/>
            <a:ext cx="14081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144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*In House Authority   **Exclusive XPT Trucking Programs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XPT Transportation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0" y="0"/>
            <a:ext cx="2743200" cy="64008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0" y="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Binding Markets 11+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903720" y="109728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brokerage markets included — contact us for more information.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91440" y="749808"/>
            <a:ext cx="1920240" cy="256032"/>
          </a:xfrm>
          <a:prstGeom prst="rect">
            <a:avLst/>
          </a:prstGeom>
          <a:solidFill>
            <a:srgbClr val="009B70"/>
          </a:solidFill>
          <a:ln w="12700">
            <a:solidFill>
              <a:srgbClr val="009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" y="7498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48256" y="749808"/>
            <a:ext cx="3977640" cy="256032"/>
          </a:xfrm>
          <a:prstGeom prst="rect">
            <a:avLst/>
          </a:prstGeom>
          <a:solidFill>
            <a:srgbClr val="009B70"/>
          </a:solidFill>
          <a:ln w="12700">
            <a:solidFill>
              <a:srgbClr val="009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048256" y="74980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&amp; NOTES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062472" y="749808"/>
            <a:ext cx="1645920" cy="256032"/>
          </a:xfrm>
          <a:prstGeom prst="rect">
            <a:avLst/>
          </a:prstGeom>
          <a:solidFill>
            <a:srgbClr val="009B70"/>
          </a:solidFill>
          <a:ln w="12700">
            <a:solidFill>
              <a:srgbClr val="009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62472" y="7498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726680" y="749808"/>
            <a:ext cx="1417320" cy="256032"/>
          </a:xfrm>
          <a:prstGeom prst="rect">
            <a:avLst/>
          </a:prstGeom>
          <a:solidFill>
            <a:srgbClr val="009B70"/>
          </a:solidFill>
          <a:ln w="12700">
            <a:solidFill>
              <a:srgbClr val="009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26680" y="7498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SIZE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1440" y="1033272"/>
            <a:ext cx="1920240" cy="320040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048256" y="1033272"/>
            <a:ext cx="3977640" cy="320040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62472" y="1033272"/>
            <a:ext cx="1645920" cy="320040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726680" y="1033272"/>
            <a:ext cx="1417320" cy="320040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37160" y="1033272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093976" y="1033272"/>
            <a:ext cx="3904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States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099048" y="1033272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AL, GL, APD, MTC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63256" y="1033272"/>
            <a:ext cx="1362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11+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1440" y="1371600"/>
            <a:ext cx="1920240" cy="320040"/>
          </a:xfrm>
          <a:prstGeom prst="rect">
            <a:avLst/>
          </a:prstGeom>
          <a:solidFill>
            <a:srgbClr val="162333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048256" y="1371600"/>
            <a:ext cx="3977640" cy="320040"/>
          </a:xfrm>
          <a:prstGeom prst="rect">
            <a:avLst/>
          </a:prstGeom>
          <a:solidFill>
            <a:srgbClr val="162333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62472" y="1371600"/>
            <a:ext cx="1645920" cy="320040"/>
          </a:xfrm>
          <a:prstGeom prst="rect">
            <a:avLst/>
          </a:prstGeom>
          <a:solidFill>
            <a:srgbClr val="162333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726680" y="1371600"/>
            <a:ext cx="1417320" cy="320040"/>
          </a:xfrm>
          <a:prstGeom prst="rect">
            <a:avLst/>
          </a:prstGeom>
          <a:solidFill>
            <a:srgbClr val="162333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37160" y="137160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Allied World (AWAC)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093976" y="1371600"/>
            <a:ext cx="3904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States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099048" y="1371600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PD, MTC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763256" y="1371600"/>
            <a:ext cx="1362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11+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1440" y="1709928"/>
            <a:ext cx="1920240" cy="320040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048256" y="1709928"/>
            <a:ext cx="3977640" cy="320040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062472" y="1709928"/>
            <a:ext cx="1645920" cy="320040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726680" y="1709928"/>
            <a:ext cx="1417320" cy="320040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37160" y="170992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Bells &amp; Clements / GLISE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093976" y="1709928"/>
            <a:ext cx="3904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States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099048" y="1709928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PD, MTC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763256" y="1709928"/>
            <a:ext cx="1362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1440" y="2048256"/>
            <a:ext cx="1920240" cy="320040"/>
          </a:xfrm>
          <a:prstGeom prst="rect">
            <a:avLst/>
          </a:prstGeom>
          <a:solidFill>
            <a:srgbClr val="162333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048256" y="2048256"/>
            <a:ext cx="3977640" cy="320040"/>
          </a:xfrm>
          <a:prstGeom prst="rect">
            <a:avLst/>
          </a:prstGeom>
          <a:solidFill>
            <a:srgbClr val="162333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062472" y="2048256"/>
            <a:ext cx="1645920" cy="320040"/>
          </a:xfrm>
          <a:prstGeom prst="rect">
            <a:avLst/>
          </a:prstGeom>
          <a:solidFill>
            <a:srgbClr val="162333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726680" y="2048256"/>
            <a:ext cx="1417320" cy="320040"/>
          </a:xfrm>
          <a:prstGeom prst="rect">
            <a:avLst/>
          </a:prstGeom>
          <a:solidFill>
            <a:srgbClr val="162333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37160" y="2048256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Berkley Prime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093976" y="2048256"/>
            <a:ext cx="3904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except CA, WA, MA, NJ, NY, HI, AK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099048" y="2048256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AL, PD, GL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763256" y="2048256"/>
            <a:ext cx="1362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15–49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91440" y="2386584"/>
            <a:ext cx="1920240" cy="320040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048256" y="2386584"/>
            <a:ext cx="3977640" cy="320040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062472" y="2386584"/>
            <a:ext cx="1645920" cy="320040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7726680" y="2386584"/>
            <a:ext cx="1417320" cy="320040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37160" y="238658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Carolina Casualty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2093976" y="2386584"/>
            <a:ext cx="3904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except AK, HI, MA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099048" y="2386584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AL, GL, PD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763256" y="2386584"/>
            <a:ext cx="1362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91440" y="2724912"/>
            <a:ext cx="1920240" cy="320040"/>
          </a:xfrm>
          <a:prstGeom prst="rect">
            <a:avLst/>
          </a:prstGeom>
          <a:solidFill>
            <a:srgbClr val="162333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2048256" y="2724912"/>
            <a:ext cx="3977640" cy="320040"/>
          </a:xfrm>
          <a:prstGeom prst="rect">
            <a:avLst/>
          </a:prstGeom>
          <a:solidFill>
            <a:srgbClr val="162333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062472" y="2724912"/>
            <a:ext cx="1645920" cy="320040"/>
          </a:xfrm>
          <a:prstGeom prst="rect">
            <a:avLst/>
          </a:prstGeom>
          <a:solidFill>
            <a:srgbClr val="162333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7726680" y="2724912"/>
            <a:ext cx="1417320" cy="320040"/>
          </a:xfrm>
          <a:prstGeom prst="rect">
            <a:avLst/>
          </a:prstGeom>
          <a:solidFill>
            <a:srgbClr val="162333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37160" y="2724912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American*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2093976" y="2724912"/>
            <a:ext cx="3904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States – Admitted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099048" y="2724912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763256" y="2724912"/>
            <a:ext cx="1362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11+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91440" y="3063240"/>
            <a:ext cx="1920240" cy="320040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2048256" y="3063240"/>
            <a:ext cx="3977640" cy="320040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6062472" y="3063240"/>
            <a:ext cx="1645920" cy="320040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7726680" y="3063240"/>
            <a:ext cx="1417320" cy="320040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137160" y="306324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Highlander Specialty**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2093976" y="3063240"/>
            <a:ext cx="3904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Policies – All except AK, CA, HI, NJ, NY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6099048" y="3063240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7763256" y="3063240"/>
            <a:ext cx="1362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30–100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91440" y="3401568"/>
            <a:ext cx="1920240" cy="320040"/>
          </a:xfrm>
          <a:prstGeom prst="rect">
            <a:avLst/>
          </a:prstGeom>
          <a:solidFill>
            <a:srgbClr val="162333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2048256" y="3401568"/>
            <a:ext cx="3977640" cy="320040"/>
          </a:xfrm>
          <a:prstGeom prst="rect">
            <a:avLst/>
          </a:prstGeom>
          <a:solidFill>
            <a:srgbClr val="162333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6062472" y="3401568"/>
            <a:ext cx="1645920" cy="320040"/>
          </a:xfrm>
          <a:prstGeom prst="rect">
            <a:avLst/>
          </a:prstGeom>
          <a:solidFill>
            <a:srgbClr val="162333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7726680" y="3401568"/>
            <a:ext cx="1417320" cy="320040"/>
          </a:xfrm>
          <a:prstGeom prst="rect">
            <a:avLst/>
          </a:prstGeom>
          <a:solidFill>
            <a:srgbClr val="162333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137160" y="340156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 Insurance Group*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2093976" y="3401568"/>
            <a:ext cx="3904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AL, AR, FL, GA, IL, IN, IA, KS, KY, MI, MN, MO, MS, NC, OH, PA, SC, TN, TX, VA, WI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6099048" y="3401568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AL, GL, PD, MTC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7763256" y="3401568"/>
            <a:ext cx="1362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11+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91440" y="3739896"/>
            <a:ext cx="1920240" cy="320040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2048256" y="3739896"/>
            <a:ext cx="3977640" cy="320040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6062472" y="3739896"/>
            <a:ext cx="1645920" cy="320040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7726680" y="3739896"/>
            <a:ext cx="1417320" cy="320040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137160" y="3739896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Lexington Insurance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2093976" y="3739896"/>
            <a:ext cx="3904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Non-admitted all states except IL/AL (cargo) &amp; NY common carrier (use NH Ins Co)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6099048" y="3739896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APD, MTC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7763256" y="3739896"/>
            <a:ext cx="1362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11+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91440" y="4078224"/>
            <a:ext cx="1920240" cy="320040"/>
          </a:xfrm>
          <a:prstGeom prst="rect">
            <a:avLst/>
          </a:prstGeom>
          <a:solidFill>
            <a:srgbClr val="162333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2048256" y="4078224"/>
            <a:ext cx="3977640" cy="320040"/>
          </a:xfrm>
          <a:prstGeom prst="rect">
            <a:avLst/>
          </a:prstGeom>
          <a:solidFill>
            <a:srgbClr val="162333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6062472" y="4078224"/>
            <a:ext cx="1645920" cy="320040"/>
          </a:xfrm>
          <a:prstGeom prst="rect">
            <a:avLst/>
          </a:prstGeom>
          <a:solidFill>
            <a:srgbClr val="162333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7726680" y="4078224"/>
            <a:ext cx="1417320" cy="320040"/>
          </a:xfrm>
          <a:prstGeom prst="rect">
            <a:avLst/>
          </a:prstGeom>
          <a:solidFill>
            <a:srgbClr val="162333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137160" y="407822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Markel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2093976" y="4078224"/>
            <a:ext cx="3904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States – Admitted or Non-Admitted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6099048" y="4078224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7763256" y="4078224"/>
            <a:ext cx="1362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11+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91440" y="4416552"/>
            <a:ext cx="1920240" cy="320040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2048256" y="4416552"/>
            <a:ext cx="3977640" cy="320040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6062472" y="4416552"/>
            <a:ext cx="1645920" cy="320040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7726680" y="4416552"/>
            <a:ext cx="1417320" cy="320040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137160" y="4416552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Navigators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2093976" y="4416552"/>
            <a:ext cx="3904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except FL, GA, AL, TX, LA, MS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6099048" y="4416552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AL, APD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7763256" y="4416552"/>
            <a:ext cx="1362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91440" y="4754880"/>
            <a:ext cx="1920240" cy="320040"/>
          </a:xfrm>
          <a:prstGeom prst="rect">
            <a:avLst/>
          </a:prstGeom>
          <a:solidFill>
            <a:srgbClr val="162333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2048256" y="4754880"/>
            <a:ext cx="3977640" cy="320040"/>
          </a:xfrm>
          <a:prstGeom prst="rect">
            <a:avLst/>
          </a:prstGeom>
          <a:solidFill>
            <a:srgbClr val="162333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6062472" y="4754880"/>
            <a:ext cx="1645920" cy="320040"/>
          </a:xfrm>
          <a:prstGeom prst="rect">
            <a:avLst/>
          </a:prstGeom>
          <a:solidFill>
            <a:srgbClr val="162333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7726680" y="4754880"/>
            <a:ext cx="1417320" cy="320040"/>
          </a:xfrm>
          <a:prstGeom prst="rect">
            <a:avLst/>
          </a:prstGeom>
          <a:solidFill>
            <a:srgbClr val="162333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137160" y="475488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Travelers</a:t>
            </a:r>
            <a:endParaRPr lang="en-US" sz="850" dirty="0"/>
          </a:p>
        </p:txBody>
      </p:sp>
      <p:sp>
        <p:nvSpPr>
          <p:cNvPr id="108" name="Text 106"/>
          <p:cNvSpPr/>
          <p:nvPr/>
        </p:nvSpPr>
        <p:spPr>
          <a:xfrm>
            <a:off x="2093976" y="4754880"/>
            <a:ext cx="3904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States – Admitted</a:t>
            </a:r>
            <a:endParaRPr lang="en-US" sz="750" dirty="0"/>
          </a:p>
        </p:txBody>
      </p:sp>
      <p:sp>
        <p:nvSpPr>
          <p:cNvPr id="109" name="Text 107"/>
          <p:cNvSpPr/>
          <p:nvPr/>
        </p:nvSpPr>
        <p:spPr>
          <a:xfrm>
            <a:off x="6099048" y="4754880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7763256" y="4754880"/>
            <a:ext cx="1362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11+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9144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*In House Authority   **Exclusive XPT Trucking Programs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XPT Transportation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0" y="0"/>
            <a:ext cx="2926080" cy="64008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0" y="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Transportation Markets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804672"/>
            <a:ext cx="2286000" cy="320040"/>
          </a:xfrm>
          <a:prstGeom prst="rect">
            <a:avLst/>
          </a:prstGeom>
          <a:solidFill>
            <a:srgbClr val="009B70"/>
          </a:solidFill>
          <a:ln w="12700">
            <a:solidFill>
              <a:srgbClr val="009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8046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05456" y="804672"/>
            <a:ext cx="3200400" cy="320040"/>
          </a:xfrm>
          <a:prstGeom prst="rect">
            <a:avLst/>
          </a:prstGeom>
          <a:solidFill>
            <a:srgbClr val="009B70"/>
          </a:solidFill>
          <a:ln w="12700">
            <a:solidFill>
              <a:srgbClr val="009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05456" y="8046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42432" y="804672"/>
            <a:ext cx="2011680" cy="320040"/>
          </a:xfrm>
          <a:prstGeom prst="rect">
            <a:avLst/>
          </a:prstGeom>
          <a:solidFill>
            <a:srgbClr val="009B70"/>
          </a:solidFill>
          <a:ln w="12700">
            <a:solidFill>
              <a:srgbClr val="009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42432" y="8046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0" y="804672"/>
            <a:ext cx="1463040" cy="320040"/>
          </a:xfrm>
          <a:prstGeom prst="rect">
            <a:avLst/>
          </a:prstGeom>
          <a:solidFill>
            <a:srgbClr val="009B70"/>
          </a:solidFill>
          <a:ln w="12700">
            <a:solidFill>
              <a:srgbClr val="009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0" y="8046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SIZE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2880" y="1152144"/>
            <a:ext cx="2286000" cy="530352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505456" y="1152144"/>
            <a:ext cx="3200400" cy="530352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742432" y="1152144"/>
            <a:ext cx="2011680" cy="530352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72400" y="1152144"/>
            <a:ext cx="1463040" cy="530352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1152144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96896" y="115214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15584" y="1152144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Truck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827264" y="115214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82880" y="1719072"/>
            <a:ext cx="2286000" cy="530352"/>
          </a:xfrm>
          <a:prstGeom prst="rect">
            <a:avLst/>
          </a:prstGeom>
          <a:solidFill>
            <a:srgbClr val="162333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505456" y="1719072"/>
            <a:ext cx="3200400" cy="530352"/>
          </a:xfrm>
          <a:prstGeom prst="rect">
            <a:avLst/>
          </a:prstGeom>
          <a:solidFill>
            <a:srgbClr val="162333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742432" y="1719072"/>
            <a:ext cx="2011680" cy="530352"/>
          </a:xfrm>
          <a:prstGeom prst="rect">
            <a:avLst/>
          </a:prstGeom>
          <a:solidFill>
            <a:srgbClr val="162333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772400" y="1719072"/>
            <a:ext cx="1463040" cy="530352"/>
          </a:xfrm>
          <a:prstGeom prst="rect">
            <a:avLst/>
          </a:prstGeom>
          <a:solidFill>
            <a:srgbClr val="162333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171907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Crum &amp; Forster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596896" y="1719072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15584" y="1719072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Truck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827264" y="171907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82880" y="2286000"/>
            <a:ext cx="2286000" cy="530352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505456" y="2286000"/>
            <a:ext cx="3200400" cy="530352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742432" y="2286000"/>
            <a:ext cx="2011680" cy="530352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772400" y="2286000"/>
            <a:ext cx="1463040" cy="530352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4320" y="228600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Everspan**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596896" y="2286000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except AK &amp; HI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815584" y="2286000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Truck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827264" y="228600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250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82880" y="2852928"/>
            <a:ext cx="2286000" cy="530352"/>
          </a:xfrm>
          <a:prstGeom prst="rect">
            <a:avLst/>
          </a:prstGeom>
          <a:solidFill>
            <a:srgbClr val="162333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505456" y="2852928"/>
            <a:ext cx="3200400" cy="530352"/>
          </a:xfrm>
          <a:prstGeom prst="rect">
            <a:avLst/>
          </a:prstGeom>
          <a:solidFill>
            <a:srgbClr val="162333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742432" y="2852928"/>
            <a:ext cx="2011680" cy="530352"/>
          </a:xfrm>
          <a:prstGeom prst="rect">
            <a:avLst/>
          </a:prstGeom>
          <a:solidFill>
            <a:srgbClr val="162333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772400" y="2852928"/>
            <a:ext cx="1463040" cy="530352"/>
          </a:xfrm>
          <a:prstGeom prst="rect">
            <a:avLst/>
          </a:prstGeom>
          <a:solidFill>
            <a:srgbClr val="162333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74320" y="2852928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Star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596896" y="2852928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815584" y="2852928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Truck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827264" y="285292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182880" y="3419856"/>
            <a:ext cx="2286000" cy="530352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2505456" y="3419856"/>
            <a:ext cx="3200400" cy="530352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742432" y="3419856"/>
            <a:ext cx="2011680" cy="530352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772400" y="3419856"/>
            <a:ext cx="1463040" cy="530352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74320" y="3419856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Bear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2596896" y="3419856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States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815584" y="3419856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Truck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827264" y="3419856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182880" y="3986784"/>
            <a:ext cx="2286000" cy="530352"/>
          </a:xfrm>
          <a:prstGeom prst="rect">
            <a:avLst/>
          </a:prstGeom>
          <a:solidFill>
            <a:srgbClr val="162333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2505456" y="3986784"/>
            <a:ext cx="3200400" cy="530352"/>
          </a:xfrm>
          <a:prstGeom prst="rect">
            <a:avLst/>
          </a:prstGeom>
          <a:solidFill>
            <a:srgbClr val="162333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5742432" y="3986784"/>
            <a:ext cx="2011680" cy="530352"/>
          </a:xfrm>
          <a:prstGeom prst="rect">
            <a:avLst/>
          </a:prstGeom>
          <a:solidFill>
            <a:srgbClr val="162333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7772400" y="3986784"/>
            <a:ext cx="1463040" cy="530352"/>
          </a:xfrm>
          <a:prstGeom prst="rect">
            <a:avLst/>
          </a:prstGeom>
          <a:solidFill>
            <a:srgbClr val="162333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74320" y="3986784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Sompo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2596896" y="398678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States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815584" y="3986784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Truck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7827264" y="398678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182880" y="4892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**Exclusive XPT Trucking Programs   |   Not all brokerage markets are included.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Highlander Platinum Trucking Program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949440" y="91440"/>
            <a:ext cx="2011680" cy="45720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949440" y="91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4DCE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Targets established, mid-size interstate fleets with strong operations, safety culture, and controlled loss performance.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1188720"/>
            <a:ext cx="4206240" cy="1225296"/>
          </a:xfrm>
          <a:prstGeom prst="rect">
            <a:avLst/>
          </a:prstGeom>
          <a:solidFill>
            <a:srgbClr val="1A2E40"/>
          </a:solidFill>
          <a:ln w="12700">
            <a:solidFill>
              <a:srgbClr val="00C4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82880" y="1188720"/>
            <a:ext cx="4206240" cy="256032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" y="1188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Risk Profile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4320" y="1453896"/>
            <a:ext cx="40690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0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30–100 units, 3+ years in business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1696212"/>
            <a:ext cx="40690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0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50%+ driver retention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1938528"/>
            <a:ext cx="40690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0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frequency under 25%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" y="2180844"/>
            <a:ext cx="40690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0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DOT-regulated for-hire carriers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2880" y="2505456"/>
            <a:ext cx="4206240" cy="982980"/>
          </a:xfrm>
          <a:prstGeom prst="rect">
            <a:avLst/>
          </a:prstGeom>
          <a:solidFill>
            <a:srgbClr val="1A2E40"/>
          </a:solidFill>
          <a:ln w="12700">
            <a:solidFill>
              <a:srgbClr val="009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82880" y="2505456"/>
            <a:ext cx="4206240" cy="256032"/>
          </a:xfrm>
          <a:prstGeom prst="rect">
            <a:avLst/>
          </a:prstGeom>
          <a:solidFill>
            <a:srgbClr val="009B70"/>
          </a:solidFill>
          <a:ln w="12700">
            <a:solidFill>
              <a:srgbClr val="009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6032" y="250545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Coverages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4320" y="2770632"/>
            <a:ext cx="40690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0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Auto Liability ($1M CSL)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" y="3012948"/>
            <a:ext cx="40690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0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Liability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" y="3255264"/>
            <a:ext cx="40690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0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Non-admitted paper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" y="3579876"/>
            <a:ext cx="4206240" cy="1225296"/>
          </a:xfrm>
          <a:prstGeom prst="rect">
            <a:avLst/>
          </a:prstGeom>
          <a:solidFill>
            <a:srgbClr val="1A2E40"/>
          </a:solidFill>
          <a:ln w="12700">
            <a:solidFill>
              <a:srgbClr val="1A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82880" y="3579876"/>
            <a:ext cx="4206240" cy="256032"/>
          </a:xfrm>
          <a:prstGeom prst="rect">
            <a:avLst/>
          </a:prstGeom>
          <a:solidFill>
            <a:srgbClr val="1A5C8F"/>
          </a:solidFill>
          <a:ln w="12700">
            <a:solidFill>
              <a:srgbClr val="1A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56032" y="35798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Approach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74320" y="3845052"/>
            <a:ext cx="40690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0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Burn-focused, loss-driven pricing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4087368"/>
            <a:ext cx="40690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0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losses may be capped at $500K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4329684"/>
            <a:ext cx="40690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0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at or above indicated burn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4572000"/>
            <a:ext cx="40690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0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data accuracy &amp; long-term profitability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1188720"/>
            <a:ext cx="4297680" cy="982980"/>
          </a:xfrm>
          <a:prstGeom prst="rect">
            <a:avLst/>
          </a:prstGeom>
          <a:solidFill>
            <a:srgbClr val="1A2E4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63440" y="1188720"/>
            <a:ext cx="429768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36592" y="11887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Requirements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54880" y="1453896"/>
            <a:ext cx="41605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0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TruckerCloud participation required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0" y="1696212"/>
            <a:ext cx="41605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0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loss runs (current + 4 prior years)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0" y="1938528"/>
            <a:ext cx="41605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0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MVRs, IFTAs, complete underwriting data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2263140"/>
            <a:ext cx="4297680" cy="1225296"/>
          </a:xfrm>
          <a:prstGeom prst="rect">
            <a:avLst/>
          </a:prstGeom>
          <a:solidFill>
            <a:srgbClr val="1A2E40"/>
          </a:solidFill>
          <a:ln w="12700">
            <a:solidFill>
              <a:srgbClr val="2A6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663440" y="2263140"/>
            <a:ext cx="4297680" cy="256032"/>
          </a:xfrm>
          <a:prstGeom prst="rect">
            <a:avLst/>
          </a:prstGeom>
          <a:solidFill>
            <a:srgbClr val="2A6FA8"/>
          </a:solidFill>
          <a:ln w="12700">
            <a:solidFill>
              <a:srgbClr val="2A6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36592" y="22631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Accounts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54880" y="2528316"/>
            <a:ext cx="41605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0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ops, transportation-only revenue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4880" y="2770632"/>
            <a:ext cx="41605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0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 SMS trends — even with a severe loss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54880" y="3012948"/>
            <a:ext cx="41605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0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2–3 BASIC alerts with good loss history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54880" y="3255264"/>
            <a:ext cx="41605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0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safety culture: ELD, cameras, mgmt controls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3579876"/>
            <a:ext cx="4297680" cy="1225296"/>
          </a:xfrm>
          <a:prstGeom prst="rect">
            <a:avLst/>
          </a:prstGeom>
          <a:solidFill>
            <a:srgbClr val="1A2E40"/>
          </a:solidFill>
          <a:ln w="12700">
            <a:solidFill>
              <a:srgbClr val="B03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663440" y="3579876"/>
            <a:ext cx="4297680" cy="256032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36592" y="357987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Ineligible Risks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754880" y="3845052"/>
            <a:ext cx="41605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0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Passenger, towing, HHG, dumping, municipal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54880" y="4087368"/>
            <a:ext cx="41605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0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Brokerage + carrier in same entity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54880" y="4329684"/>
            <a:ext cx="41605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0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hazard commodities (infectious waste, etc.)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754880" y="4572000"/>
            <a:ext cx="41605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0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requiring limits &gt; $1M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Highlander Platinum Trucking Program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766560" y="91440"/>
            <a:ext cx="2194560" cy="45720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766560" y="91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Strengths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749808"/>
            <a:ext cx="4114800" cy="320040"/>
          </a:xfrm>
          <a:prstGeom prst="rect">
            <a:avLst/>
          </a:prstGeom>
          <a:solidFill>
            <a:srgbClr val="009B70"/>
          </a:solidFill>
          <a:ln w="12700">
            <a:solidFill>
              <a:srgbClr val="009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7498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Options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" y="1069848"/>
            <a:ext cx="4114800" cy="2286000"/>
          </a:xfrm>
          <a:prstGeom prst="rect">
            <a:avLst/>
          </a:prstGeom>
          <a:solidFill>
            <a:srgbClr val="1A2E40"/>
          </a:solidFill>
          <a:ln w="12700">
            <a:solidFill>
              <a:srgbClr val="009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106424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Mileage Reporting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48840" y="1106424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annual minimum required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1536192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Per-Unit Threshold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148840" y="1536192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miles per unit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" y="1965960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Frequency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48840" y="1965960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reports with annual adjustment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" y="2395728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Financing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148840" y="2395728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premium must be financed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2825496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Requirements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148840" y="2825496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TruckerCloud participation required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749808"/>
            <a:ext cx="4297680" cy="320040"/>
          </a:xfrm>
          <a:prstGeom prst="rect">
            <a:avLst/>
          </a:prstGeom>
          <a:solidFill>
            <a:srgbClr val="009B70"/>
          </a:solidFill>
          <a:ln w="12700">
            <a:solidFill>
              <a:srgbClr val="009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63440" y="74980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Strengths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1115568"/>
            <a:ext cx="4297680" cy="640080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63440" y="1115568"/>
            <a:ext cx="73152" cy="64008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00600" y="11612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Disciplined Underwriting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14173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review ensures quality risk selection and long-term profitability.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1792224"/>
            <a:ext cx="4297680" cy="640080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63440" y="1792224"/>
            <a:ext cx="73152" cy="64008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00600" y="18379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209397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Telematics (ELD, cameras) and loss focus guide every pricing decision.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63440" y="2468880"/>
            <a:ext cx="4297680" cy="640080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63440" y="2468880"/>
            <a:ext cx="73152" cy="64008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00600" y="25146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Pricing-to-Exposure Alignment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277063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Burn-focused model ties premium directly to actual loss trends.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3145536"/>
            <a:ext cx="4297680" cy="640080"/>
          </a:xfrm>
          <a:prstGeom prst="rect">
            <a:avLst/>
          </a:prstGeom>
          <a:solidFill>
            <a:srgbClr val="1A2E40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663440" y="3145536"/>
            <a:ext cx="73152" cy="64008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00600" y="31912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Non-Standard Capability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00600" y="34472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can handle risks with a severe loss and acceptable SMS trends.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" y="4690872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XPT Program  |  Highlander Specialty Insurance Company  |  quotes@xptspecialty.com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XPT Transportation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846320" y="91440"/>
            <a:ext cx="2377440" cy="45720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846320" y="91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Requirements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777240"/>
            <a:ext cx="4114800" cy="347472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777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Fleet Requirements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" y="1133856"/>
            <a:ext cx="4114800" cy="3337560"/>
          </a:xfrm>
          <a:prstGeom prst="rect">
            <a:avLst/>
          </a:prstGeom>
          <a:solidFill>
            <a:srgbClr val="1A2E40"/>
          </a:solidFill>
          <a:ln w="12700">
            <a:solidFill>
              <a:srgbClr val="00C4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1795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5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Truckers Application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4320" y="16367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5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+ 4 years loss runs (dated within 90 days of effective date)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" y="20939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5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List with Date of Hire and Years of Experience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4320" y="25511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5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Vehicle/Trailer List with Stated Values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4320" y="30083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5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IFTAs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4320" y="34655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5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 (may be required depending on market/risk size)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4320" y="39227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5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Summary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777240"/>
            <a:ext cx="4114800" cy="347472"/>
          </a:xfrm>
          <a:prstGeom prst="rect">
            <a:avLst/>
          </a:prstGeom>
          <a:solidFill>
            <a:srgbClr val="009B70"/>
          </a:solidFill>
          <a:ln w="12700">
            <a:solidFill>
              <a:srgbClr val="009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777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Non-Fleet Requirements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1133856"/>
            <a:ext cx="4114800" cy="2880360"/>
          </a:xfrm>
          <a:prstGeom prst="rect">
            <a:avLst/>
          </a:prstGeom>
          <a:solidFill>
            <a:srgbClr val="1A2E40"/>
          </a:solidFill>
          <a:ln w="12700">
            <a:solidFill>
              <a:srgbClr val="009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11795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5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Truckers Application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46320" y="16367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5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IFTA (5 or more power units)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0" y="20939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5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Vehicle Reports (MVRs)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0" y="25511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5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List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0" y="30083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5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List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0" y="34655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50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Runs (Current + 4 years)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4681728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all submissions to:  quotes@xptspecialty.com  and copy your XPT Underwriter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4AADD7-B291-850F-464B-5766B8FA62FD}"/>
              </a:ext>
            </a:extLst>
          </p:cNvPr>
          <p:cNvSpPr txBox="1"/>
          <p:nvPr/>
        </p:nvSpPr>
        <p:spPr>
          <a:xfrm>
            <a:off x="2286000" y="2110678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all submissions to:  quotes@xptspecialty.com and copy your XPT Underwriter you wish to work with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828485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02C0F668-9D71-57BF-9754-48851F61EC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7523341"/>
              </p:ext>
            </p:extLst>
          </p:nvPr>
        </p:nvGraphicFramePr>
        <p:xfrm>
          <a:off x="1600200" y="1825625"/>
          <a:ext cx="5943600" cy="1490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3600" imgH="1491449" progId="Word.Document.12">
                  <p:embed/>
                </p:oleObj>
              </mc:Choice>
              <mc:Fallback>
                <p:oleObj name="Document" r:id="rId2" imgW="5943600" imgH="149144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00200" y="1825625"/>
                        <a:ext cx="5943600" cy="1490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7938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17B3DB73-1B12-C0CD-721F-73C5FF222C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0852593"/>
              </p:ext>
            </p:extLst>
          </p:nvPr>
        </p:nvGraphicFramePr>
        <p:xfrm>
          <a:off x="1600200" y="1825625"/>
          <a:ext cx="5943600" cy="1490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3600" imgH="1491449" progId="Word.Document.12">
                  <p:embed/>
                </p:oleObj>
              </mc:Choice>
              <mc:Fallback>
                <p:oleObj name="Document" r:id="rId2" imgW="5943600" imgH="149144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00200" y="1825625"/>
                        <a:ext cx="5943600" cy="1490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63816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00D546D0-59AD-FFCE-4731-269101870E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614958"/>
              </p:ext>
            </p:extLst>
          </p:nvPr>
        </p:nvGraphicFramePr>
        <p:xfrm>
          <a:off x="1600200" y="1825625"/>
          <a:ext cx="5943600" cy="1490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3600" imgH="1491449" progId="Word.Document.12">
                  <p:embed/>
                </p:oleObj>
              </mc:Choice>
              <mc:Fallback>
                <p:oleObj name="Document" r:id="rId2" imgW="5943600" imgH="149144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00200" y="1825625"/>
                        <a:ext cx="5943600" cy="1490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44516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1033</Words>
  <Application>Microsoft Office PowerPoint</Application>
  <PresentationFormat>On-screen Show (16:9)</PresentationFormat>
  <Paragraphs>211</Paragraphs>
  <Slides>11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 Black</vt:lpstr>
      <vt:lpstr>Calibri</vt:lpstr>
      <vt:lpstr>Calibri Light</vt:lpstr>
      <vt:lpstr>Office Theme</vt:lpstr>
      <vt:lpstr>Microsoft Word 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XPT Transportation &amp; Highlander Platinum Program</dc:title>
  <dc:subject>PptxGenJS Presentation</dc:subject>
  <dc:creator>PptxGenJS</dc:creator>
  <cp:lastModifiedBy>Todd Martin</cp:lastModifiedBy>
  <cp:revision>3</cp:revision>
  <dcterms:created xsi:type="dcterms:W3CDTF">2026-04-15T19:06:04Z</dcterms:created>
  <dcterms:modified xsi:type="dcterms:W3CDTF">2026-04-15T19:59:31Z</dcterms:modified>
</cp:coreProperties>
</file>